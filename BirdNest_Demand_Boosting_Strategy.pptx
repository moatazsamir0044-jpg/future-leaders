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1675"/>
  <p:notesSz cx="6858000" cy="12191675"/>
  <p:embeddedFontLst>
    <p:embeddedFont>
      <p:font typeface="Play"/>
      <p:regular r:id="rId27"/>
      <p:bold r:id="rId28"/>
    </p:embeddedFont>
    <p:embeddedFont>
      <p:font typeface="Arim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C73243-694F-4AAE-811F-BE58519D9E65}">
  <a:tblStyle styleId="{99C73243-694F-4AAE-811F-BE58519D9E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italic.fntdata"/><Relationship Id="rId30" Type="http://schemas.openxmlformats.org/officeDocument/2006/relationships/font" Target="fonts/Arim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Arim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_MASTER">
  <p:cSld name="YELLOW_MASTER">
    <p:bg>
      <p:bgPr>
        <a:solidFill>
          <a:srgbClr val="F4E6C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502920" y="6519672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birdnestlife.com  |  Offline Sales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2075850" y="2490000"/>
            <a:ext cx="8040000" cy="164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DEMAND BOOSTING</a:t>
            </a:r>
            <a:endParaRPr sz="6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4595838" y="4139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OFFLINE SALES — STRATEGIC EXECUTION PLAN</a:t>
            </a:r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4595838" y="5107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Q2 – Q3 2026</a:t>
            </a:r>
            <a:endParaRPr/>
          </a:p>
        </p:txBody>
      </p:sp>
      <p:pic>
        <p:nvPicPr>
          <p:cNvPr descr="A black and white logo&#10;&#10;AI-generated content may be incorrect."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365" y="800050"/>
            <a:ext cx="2292950" cy="13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502920" y="292608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AGENDA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/>
          <p:nvPr>
            <p:ph idx="4294967295" type="sldNum"/>
          </p:nvPr>
        </p:nvSpPr>
        <p:spPr>
          <a:xfrm>
            <a:off x="11585448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130127" y="1338650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33" name="Google Shape;33;p5"/>
          <p:cNvSpPr/>
          <p:nvPr/>
        </p:nvSpPr>
        <p:spPr>
          <a:xfrm>
            <a:off x="1130127" y="1338650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825128" y="1338650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825128" y="1659420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Key highlights, performance overview &amp; decisions needed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130127" y="2236806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37" name="Google Shape;37;p5"/>
          <p:cNvSpPr/>
          <p:nvPr/>
        </p:nvSpPr>
        <p:spPr>
          <a:xfrm>
            <a:off x="1130127" y="2236806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825128" y="2236806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Strategic Objectives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825128" y="2557575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Purpose, scope &amp; success definition for Q2–Q3 2026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30127" y="3134961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41" name="Google Shape;41;p5"/>
          <p:cNvSpPr/>
          <p:nvPr/>
        </p:nvSpPr>
        <p:spPr>
          <a:xfrm>
            <a:off x="1130127" y="3134961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825128" y="3134961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Sales Insights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825128" y="3455731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Reservation source analysis &amp; channel breakdown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130127" y="4033117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45" name="Google Shape;45;p5"/>
          <p:cNvSpPr/>
          <p:nvPr/>
        </p:nvSpPr>
        <p:spPr>
          <a:xfrm>
            <a:off x="1130127" y="4033117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825128" y="4033117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Targets vs. Actual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825128" y="4353886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YTD &amp; quarterly gap analysis by location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30127" y="4931272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49" name="Google Shape;49;p5"/>
          <p:cNvSpPr/>
          <p:nvPr/>
        </p:nvSpPr>
        <p:spPr>
          <a:xfrm>
            <a:off x="1130127" y="4931272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825128" y="4931272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Portfolio Segmentation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825128" y="5252042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Actual vs. forecasted channel mix by location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315909" y="1338650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53" name="Google Shape;53;p5"/>
          <p:cNvSpPr/>
          <p:nvPr/>
        </p:nvSpPr>
        <p:spPr>
          <a:xfrm>
            <a:off x="6315909" y="1338650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010911" y="1338650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 Performance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010911" y="1659420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Individual sales output &amp; quarterly achievement %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315909" y="2236806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57" name="Google Shape;57;p5"/>
          <p:cNvSpPr/>
          <p:nvPr/>
        </p:nvSpPr>
        <p:spPr>
          <a:xfrm>
            <a:off x="6315909" y="2236806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010911" y="2236806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Action Plans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010911" y="2557575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Location-by-location execution roadmaps (Cairo / Sahel / October)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315909" y="3134961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61" name="Google Shape;61;p5"/>
          <p:cNvSpPr/>
          <p:nvPr/>
        </p:nvSpPr>
        <p:spPr>
          <a:xfrm>
            <a:off x="6315909" y="3134961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010911" y="3134961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Challenges &amp; Obstacles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010911" y="3455731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Operational constraints &amp; structural risks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315909" y="4033117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65" name="Google Shape;65;p5"/>
          <p:cNvSpPr/>
          <p:nvPr/>
        </p:nvSpPr>
        <p:spPr>
          <a:xfrm>
            <a:off x="6315909" y="4033117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010911" y="4033117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Risk Matrix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010911" y="4353886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Impact of challenges on revenue targets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315909" y="4931272"/>
            <a:ext cx="588000" cy="588000"/>
          </a:xfrm>
          <a:prstGeom prst="rect">
            <a:avLst/>
          </a:prstGeom>
          <a:solidFill>
            <a:srgbClr val="F5C800"/>
          </a:solidFill>
          <a:ln cap="flat" cmpd="sng" w="14850">
            <a:solidFill>
              <a:srgbClr val="F5C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900" lIns="106900" spcFirstLastPara="1" rIns="106900" wrap="square" tIns="10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7"/>
          </a:p>
        </p:txBody>
      </p:sp>
      <p:sp>
        <p:nvSpPr>
          <p:cNvPr id="69" name="Google Shape;69;p5"/>
          <p:cNvSpPr/>
          <p:nvPr/>
        </p:nvSpPr>
        <p:spPr>
          <a:xfrm>
            <a:off x="6315909" y="4931272"/>
            <a:ext cx="588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37"/>
              <a:buFont typeface="Calibri"/>
              <a:buNone/>
            </a:pPr>
            <a:r>
              <a:rPr b="1" i="0" lang="en-US" sz="163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010911" y="4931272"/>
            <a:ext cx="4170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20"/>
              <a:buFont typeface="Calibri"/>
              <a:buNone/>
            </a:pPr>
            <a:r>
              <a:rPr b="1" i="0" lang="en-US" sz="152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5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010911" y="5252042"/>
            <a:ext cx="4170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450" lIns="106900" spcFirstLastPara="1" rIns="106900" wrap="square" tIns="53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69"/>
              <a:buFont typeface="Calibri"/>
              <a:buNone/>
            </a:pPr>
            <a:r>
              <a:rPr b="0" i="0" lang="en-US" sz="1169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Summary, decisions required &amp; next steps</a:t>
            </a:r>
            <a:endParaRPr b="0" i="0" sz="11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EXECUTIVE SUMMARY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94360" y="1143000"/>
            <a:ext cx="2514600" cy="822960"/>
          </a:xfrm>
          <a:prstGeom prst="rect">
            <a:avLst/>
          </a:prstGeom>
          <a:solidFill>
            <a:srgbClr val="203348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Target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EGP 254.2M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429000" y="1143000"/>
            <a:ext cx="2514600" cy="822960"/>
          </a:xfrm>
          <a:prstGeom prst="rect">
            <a:avLst/>
          </a:prstGeom>
          <a:solidFill>
            <a:srgbClr val="CFAD4D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Total Achievement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EGP 56.8M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263640" y="1143000"/>
            <a:ext cx="2514600" cy="822960"/>
          </a:xfrm>
          <a:prstGeom prst="rect">
            <a:avLst/>
          </a:prstGeom>
          <a:solidFill>
            <a:srgbClr val="F2D8D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Achievement Rate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22.3%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9098280" y="1143000"/>
            <a:ext cx="2514600" cy="82296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Top Source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Broker • 59%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0075" y="2459700"/>
            <a:ext cx="4322400" cy="548700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READOUT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0075" y="3083013"/>
            <a:ext cx="55320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Portfolio achievement reached EGP 56.8M against EGP 254.2M (22.3%).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Mivida exceeded target at 163.8% and is the largest contributor to actual achievement.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Mivida and Villette together represent 60.8% of total achievement, showing strong revenue concentration.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Broker remains the top reservation source across all quarters with EGP 33.6M in contribution.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Sahel, ORA ZED-PARK, Boutique Nest and Gouna show the largest recovery gap and need focused activation.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583667" y="2404852"/>
            <a:ext cx="4846200" cy="411600"/>
          </a:xfrm>
          <a:prstGeom prst="rect">
            <a:avLst/>
          </a:prstGeom>
          <a:solidFill>
            <a:srgbClr val="CFAD4D"/>
          </a:solidFill>
          <a:ln cap="flat" cmpd="sng" w="9525">
            <a:solidFill>
              <a:srgbClr val="CFAD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MANAGEMENT FOCUS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583675" y="2888975"/>
            <a:ext cx="4846200" cy="82290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Protect high-performing engines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Mivida and Villette need account protection, rate discipline and continuous lead coverage.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583675" y="3930389"/>
            <a:ext cx="4846200" cy="116850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Recover underperforming locations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CFC, Aeon, Sahel and October require dedicated source plans and weekly pipeline reviews.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583725" y="5317425"/>
            <a:ext cx="4846200" cy="116850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Reduce concentration risk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8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Broker is still the dominant source; corporate, referral and internal leads need stronger activation.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STRATEGIC OBJECTIVES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85800" y="1115568"/>
            <a:ext cx="5166360" cy="100584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1  Close the target gap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Build weekly revenue visibility by location and source to track recovery against annual target.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263640" y="1115568"/>
            <a:ext cx="5166360" cy="1005840"/>
          </a:xfrm>
          <a:prstGeom prst="rect">
            <a:avLst/>
          </a:prstGeom>
          <a:solidFill>
            <a:srgbClr val="F7E8C7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2  Protect revenue engines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Maintain Mivida and Villette performance while preventing dependency on only two locations.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85800" y="2624328"/>
            <a:ext cx="5166360" cy="100584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3  Activate low-achievement assets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Set location-level actions for Sahel, October, CFC, Aeon and Boutique Nest.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263640" y="2624328"/>
            <a:ext cx="5166360" cy="1005840"/>
          </a:xfrm>
          <a:prstGeom prst="rect">
            <a:avLst/>
          </a:prstGeom>
          <a:solidFill>
            <a:srgbClr val="F7E8C7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4  Diversify sources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Strengthen Corporate, Customer Referral, TMC and Internal Lead channels to balance Broker dependence.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85800" y="4133088"/>
            <a:ext cx="5166360" cy="100584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5  Balance sales ownership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Reduce agent concentration by matching each agent to clear locations and weekly targets.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263640" y="4133088"/>
            <a:ext cx="5166360" cy="1005840"/>
          </a:xfrm>
          <a:prstGeom prst="rect">
            <a:avLst/>
          </a:prstGeom>
          <a:solidFill>
            <a:srgbClr val="F7E8C7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6  Improve management control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Use clear challenge ownership, risk levels and action plan cadence for faster decisions.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SALES INSIGHTS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00875" y="1229925"/>
            <a:ext cx="3200400" cy="495600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PERFORMANCE CONCENTRATION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700875" y="1826260"/>
            <a:ext cx="3154800" cy="822900"/>
          </a:xfrm>
          <a:prstGeom prst="rect">
            <a:avLst/>
          </a:prstGeom>
          <a:solidFill>
            <a:srgbClr val="E2C87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Mivida + Villette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60.8% of total achievement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64875" y="2877826"/>
            <a:ext cx="32004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Mivida is the only location above 100% target achievement.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Villette is the second strongest engine but still below Mivida scale.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Most remaining locations need recovery plans rather than general activity.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495625" y="1229972"/>
            <a:ext cx="2194500" cy="495600"/>
          </a:xfrm>
          <a:prstGeom prst="rect">
            <a:avLst/>
          </a:prstGeom>
          <a:solidFill>
            <a:srgbClr val="2E7D55"/>
          </a:solidFill>
          <a:ln cap="flat" cmpd="sng" w="9525">
            <a:solidFill>
              <a:srgbClr val="2E7D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DEPENDENCY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495635" y="1826260"/>
            <a:ext cx="2834700" cy="8229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Broker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EGP 33.6M contribution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41355" y="287782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Broker is the top source in Q1, Q2, Q3 and Q4.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Customer referral is the strongest non-broker source.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TMC contribution remains limited across the source tables.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244675" y="1229972"/>
            <a:ext cx="1920300" cy="495600"/>
          </a:xfrm>
          <a:prstGeom prst="rect">
            <a:avLst/>
          </a:prstGeom>
          <a:solidFill>
            <a:srgbClr val="CFAD4D"/>
          </a:solidFill>
          <a:ln cap="flat" cmpd="sng" w="9525">
            <a:solidFill>
              <a:srgbClr val="CFAD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 COVERAGE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244675" y="1826260"/>
            <a:ext cx="2834700" cy="8229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Top Agent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Amr • 63.4%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290395" y="287782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Agent contribution is concentrated in Amr Tarek.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May is the strongest month in the sales-agent table.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03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Location ownership must be clearer to improve coverage.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685800" y="5166360"/>
            <a:ext cx="10744200" cy="566928"/>
          </a:xfrm>
          <a:prstGeom prst="rect">
            <a:avLst/>
          </a:prstGeom>
          <a:solidFill>
            <a:srgbClr val="203348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Strategic implication: the plan should prioritize revenue recovery by location while increasing source and agent diversification.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02920" y="292608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TARGETS VS. ACTUAL PERFORMANCE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549640" y="1146071"/>
            <a:ext cx="786300" cy="2469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≥ 50%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9509760" y="1146071"/>
            <a:ext cx="786300" cy="2469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D9822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40–49%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10469880" y="1146071"/>
            <a:ext cx="786300" cy="246900"/>
          </a:xfrm>
          <a:prstGeom prst="rect">
            <a:avLst/>
          </a:prstGeom>
          <a:solidFill>
            <a:srgbClr val="F2D8D5"/>
          </a:solidFill>
          <a:ln cap="flat" cmpd="sng" w="10150">
            <a:solidFill>
              <a:srgbClr val="B6423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&lt; 20%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" name="Google Shape;129;p9"/>
          <p:cNvGraphicFramePr/>
          <p:nvPr/>
        </p:nvGraphicFramePr>
        <p:xfrm>
          <a:off x="332238" y="1572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960600"/>
                <a:gridCol w="960600"/>
                <a:gridCol w="960600"/>
                <a:gridCol w="960600"/>
                <a:gridCol w="960600"/>
                <a:gridCol w="960600"/>
                <a:gridCol w="960600"/>
                <a:gridCol w="960600"/>
                <a:gridCol w="960600"/>
                <a:gridCol w="960600"/>
                <a:gridCol w="960600"/>
                <a:gridCol w="960600"/>
              </a:tblGrid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Building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 Target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 Achievement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Target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Achievement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Target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Achievement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 Target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 Achievement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Target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Achievement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Achievement 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2,967,167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2,353,561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4,102,411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3,826,029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4,477,081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2,089,008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5,136,757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1,812,438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16,683,416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10,081,036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60.4%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3,317,690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6,022,417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3,788,297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6,680,656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3,733,336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6,018,437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4,102,666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5,758,512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14,941,989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24,480,022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163.8%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2,712,904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1,810,236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3,389,246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1,872,204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3,851,123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1,073,309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4,132,460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377,267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14,085,733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5,133,016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36.4%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3,077,104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444,128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4,079,348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1,982,232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4,275,736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909,491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4,183,014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742,691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15,615,202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4,078,542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767,735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708,536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3,491,100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1,049,124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4,576,654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1,148,019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4,632,408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836,787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13,467,897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3,742,466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 ZED-PARK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205,369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2,684,416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331,172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5,090,821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181,828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5,012,184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12,992,790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513,000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15,066,452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1,179,746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125,369,554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6,941,754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140,436,006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8,121,500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2,750,489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335,385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3,230,247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245,668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3,283,513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3,612,226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12,876,475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581,053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4.5%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5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2,524,125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3,438,424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33,045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3,316,418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35,258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3,861,931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13,140,898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68,303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5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502920" y="292608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Q1 RESERVATION SOURCE BY LOCATION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267047" y="6477710"/>
            <a:ext cx="3657600" cy="3108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Top Source = BROKER (7,641,308)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p10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882150"/>
                <a:gridCol w="1882150"/>
                <a:gridCol w="1882150"/>
                <a:gridCol w="1882150"/>
                <a:gridCol w="1882150"/>
                <a:gridCol w="1882150"/>
              </a:tblGrid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CORPORATE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REFERRAL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EXTENSION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October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10,850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158,700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549,836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231,370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91,015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13,000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444,128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1,254,042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158,387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121,984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275,823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323,114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877,649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4,821,654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Cairo Scattered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3,767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59,495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747,967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1,546,099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4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Total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2,026,721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1,875,017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134,984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7,641,308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4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10,850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0"/>
          <p:cNvSpPr txBox="1"/>
          <p:nvPr>
            <p:ph idx="4294967295" type="sldNum"/>
          </p:nvPr>
        </p:nvSpPr>
        <p:spPr>
          <a:xfrm>
            <a:off x="11585448" y="6483096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Q2 RESERVATION SOURCE BY LOCATION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4267047" y="6477647"/>
            <a:ext cx="3657600" cy="3108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Top Source = BROKER (9,783,287)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" name="Google Shape;146;p11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411600"/>
                <a:gridCol w="1411600"/>
                <a:gridCol w="1411600"/>
                <a:gridCol w="1411600"/>
                <a:gridCol w="1411600"/>
                <a:gridCol w="1411600"/>
                <a:gridCol w="1411600"/>
                <a:gridCol w="1411600"/>
              </a:tblGrid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REFERRAL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LEAD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TRAVEL MC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CORPORATE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EXTENSION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77,848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971,276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38,595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69,984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89,251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47,838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538,432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234,000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1,067,698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125,600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16,502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11,613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1,077,567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491,215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90,000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201,810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33,045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Karma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2,155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1,151,106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154,685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227,625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5,147,240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275,172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56,000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299,582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196,795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62,742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620,626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1,146,566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202,802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2,016,606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409,800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50,255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Total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3,182,499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351,480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413,185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1,853,151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9,783,287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625,400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993,031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1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Q3 RESERVATION SOURCE BY LOCATION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4274810" y="6477647"/>
            <a:ext cx="3657600" cy="3108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Top Source = BROKER (8,400,879)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12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411600"/>
                <a:gridCol w="1411600"/>
                <a:gridCol w="1411600"/>
                <a:gridCol w="1411600"/>
                <a:gridCol w="1411600"/>
                <a:gridCol w="1411600"/>
                <a:gridCol w="1411600"/>
                <a:gridCol w="1411600"/>
              </a:tblGrid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REFERRAL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CORPORATE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LEAD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EXTENSION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TRAVEL MC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1,124,066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23,953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58,966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782,941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67,584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530,352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509,511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33,446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35,258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859,931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4,605,635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230,126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322,745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144,828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37,000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1,265,919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3,305,886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2,369,949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553,946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1,357,885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57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177,177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Total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2,738,762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8,400,879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884,464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3,662,077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23,953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57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2,686,968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2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Q4 RESERVATION SOURCE BY LOCATION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206247" y="6477647"/>
            <a:ext cx="3657600" cy="3108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Top Source = BROKER (7,770,198)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13"/>
          <p:cNvGraphicFramePr/>
          <p:nvPr/>
        </p:nvGraphicFramePr>
        <p:xfrm>
          <a:off x="457200" y="1261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2258575"/>
                <a:gridCol w="2258575"/>
                <a:gridCol w="2258575"/>
                <a:gridCol w="2258575"/>
                <a:gridCol w="2258575"/>
              </a:tblGrid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REFERRAL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CORPORATE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LEAD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836,787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742,691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242,756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134,511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4,606,340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753,987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230,126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168,060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1,341,624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470,814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Total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7,770,198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1,224,801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364,637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0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168,060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3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TOTAL SALES PER SALES AGENT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p14"/>
          <p:cNvGraphicFramePr/>
          <p:nvPr/>
        </p:nvGraphicFramePr>
        <p:xfrm>
          <a:off x="96012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285875"/>
                <a:gridCol w="1285875"/>
                <a:gridCol w="1285875"/>
                <a:gridCol w="1285875"/>
                <a:gridCol w="1285875"/>
                <a:gridCol w="1285875"/>
                <a:gridCol w="1285875"/>
                <a:gridCol w="1285875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Sales Agent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Feb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Grand Total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Amr Tarek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2,342,283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2,591,292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5,211,870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2,036,412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5,826,639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1,240,963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19,249,458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Omar Maala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98,999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2,434,328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1,854,536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4,387,863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Sherif Mokhtar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746,858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1,276,921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1,435,456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1,641,525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186,212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169,591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5,456,562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Youssef Amr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182,379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848,593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226,635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1,257,608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Grand Total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3,089,140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3,868,212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6,647,326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3,959,314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9,295,773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3,491,725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30,351,491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AD4D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4"/>
          <p:cNvSpPr/>
          <p:nvPr/>
        </p:nvSpPr>
        <p:spPr>
          <a:xfrm>
            <a:off x="1143000" y="4800600"/>
            <a:ext cx="2286000" cy="685800"/>
          </a:xfrm>
          <a:prstGeom prst="rect">
            <a:avLst/>
          </a:prstGeom>
          <a:solidFill>
            <a:srgbClr val="203348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Total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EGP 30.4M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3657600" y="4800600"/>
            <a:ext cx="2286000" cy="685800"/>
          </a:xfrm>
          <a:prstGeom prst="rect">
            <a:avLst/>
          </a:prstGeom>
          <a:solidFill>
            <a:srgbClr val="E2C87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Top Contributor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Amr Tarek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6172200" y="4800600"/>
            <a:ext cx="2286000" cy="6858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Top Month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8686800" y="4800600"/>
            <a:ext cx="2286000" cy="6858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Balance coverage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AMR TAREK — ACHIEVEMENT BY PROJECT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4742565" y="6236196"/>
            <a:ext cx="786300" cy="2469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≥ 50%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5702685" y="6236196"/>
            <a:ext cx="786300" cy="2469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D9822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40–49%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6662805" y="6236196"/>
            <a:ext cx="786300" cy="246900"/>
          </a:xfrm>
          <a:prstGeom prst="rect">
            <a:avLst/>
          </a:prstGeom>
          <a:solidFill>
            <a:srgbClr val="F2D8D5"/>
          </a:solidFill>
          <a:ln cap="flat" cmpd="sng" w="10150">
            <a:solidFill>
              <a:srgbClr val="B6423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&lt; 20%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15"/>
          <p:cNvGraphicFramePr/>
          <p:nvPr/>
        </p:nvGraphicFramePr>
        <p:xfrm>
          <a:off x="10058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691650"/>
                <a:gridCol w="1691650"/>
                <a:gridCol w="1691650"/>
                <a:gridCol w="1691650"/>
                <a:gridCol w="1691650"/>
                <a:gridCol w="1691650"/>
              </a:tblGrid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 Jan–Mar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Apr–Jun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Jul–Sep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 Oct–Dec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 Avg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D982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196%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D982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D982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2CA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Karma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D982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15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OMAR MAALA — ACHIEVEMENT BY PROJECT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4727478" y="6236221"/>
            <a:ext cx="786300" cy="2469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≥ 50%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5687598" y="6236221"/>
            <a:ext cx="786300" cy="2469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D9822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40–49%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6647718" y="6236221"/>
            <a:ext cx="786300" cy="246900"/>
          </a:xfrm>
          <a:prstGeom prst="rect">
            <a:avLst/>
          </a:prstGeom>
          <a:solidFill>
            <a:srgbClr val="F2D8D5"/>
          </a:solidFill>
          <a:ln cap="flat" cmpd="sng" w="10150">
            <a:solidFill>
              <a:srgbClr val="B6423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&lt; 20%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8" name="Google Shape;198;p16"/>
          <p:cNvGraphicFramePr/>
          <p:nvPr/>
        </p:nvGraphicFramePr>
        <p:xfrm>
          <a:off x="10058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691650"/>
                <a:gridCol w="1691650"/>
                <a:gridCol w="1691650"/>
                <a:gridCol w="1691650"/>
                <a:gridCol w="1691650"/>
                <a:gridCol w="1691650"/>
              </a:tblGrid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 Jan–Mar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Apr–Jun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Jul–Sep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 Oct–Dec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 Avg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Karma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16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/>
          <p:nvPr/>
        </p:nvSpPr>
        <p:spPr>
          <a:xfrm>
            <a:off x="502925" y="292600"/>
            <a:ext cx="1168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SHERIF MOKHTAR — ACHIEVEMENT BY PROJECT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4742515" y="6236221"/>
            <a:ext cx="786300" cy="2469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≥ 50%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5702635" y="6236221"/>
            <a:ext cx="786300" cy="2469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D9822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40–49%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6662755" y="6236221"/>
            <a:ext cx="786300" cy="246900"/>
          </a:xfrm>
          <a:prstGeom prst="rect">
            <a:avLst/>
          </a:prstGeom>
          <a:solidFill>
            <a:srgbClr val="F2D8D5"/>
          </a:solidFill>
          <a:ln cap="flat" cmpd="sng" w="10150">
            <a:solidFill>
              <a:srgbClr val="B6423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&lt; 20%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p17"/>
          <p:cNvGraphicFramePr/>
          <p:nvPr/>
        </p:nvGraphicFramePr>
        <p:xfrm>
          <a:off x="10058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691650"/>
                <a:gridCol w="1691650"/>
                <a:gridCol w="1691650"/>
                <a:gridCol w="1691650"/>
                <a:gridCol w="1691650"/>
                <a:gridCol w="1691650"/>
              </a:tblGrid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 Jan–Mar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Apr–Jun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Jul–Sep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 Oct–Dec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 Avg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126%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D982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2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22B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D982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2CA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Karma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17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YOUSSEF AMR — ACHIEVEMENT BY PROJECT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742515" y="6236221"/>
            <a:ext cx="786300" cy="246900"/>
          </a:xfrm>
          <a:prstGeom prst="rect">
            <a:avLst/>
          </a:prstGeom>
          <a:solidFill>
            <a:srgbClr val="DDEEDC"/>
          </a:solidFill>
          <a:ln cap="flat" cmpd="sng" w="10150">
            <a:solidFill>
              <a:srgbClr val="2E7D5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E7D55"/>
                </a:solidFill>
                <a:latin typeface="Arial"/>
                <a:ea typeface="Arial"/>
                <a:cs typeface="Arial"/>
                <a:sym typeface="Arial"/>
              </a:rPr>
              <a:t>≥ 50%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702635" y="6236221"/>
            <a:ext cx="786300" cy="246900"/>
          </a:xfrm>
          <a:prstGeom prst="rect">
            <a:avLst/>
          </a:prstGeom>
          <a:solidFill>
            <a:srgbClr val="F7E2CA"/>
          </a:solidFill>
          <a:ln cap="flat" cmpd="sng" w="10150">
            <a:solidFill>
              <a:srgbClr val="D9822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22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822B"/>
                </a:solidFill>
                <a:latin typeface="Arial"/>
                <a:ea typeface="Arial"/>
                <a:cs typeface="Arial"/>
                <a:sym typeface="Arial"/>
              </a:rPr>
              <a:t>40–49%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662755" y="6236221"/>
            <a:ext cx="786300" cy="246900"/>
          </a:xfrm>
          <a:prstGeom prst="rect">
            <a:avLst/>
          </a:prstGeom>
          <a:solidFill>
            <a:srgbClr val="F2D8D5"/>
          </a:solidFill>
          <a:ln cap="flat" cmpd="sng" w="10150">
            <a:solidFill>
              <a:srgbClr val="B64235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6423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64235"/>
                </a:solidFill>
                <a:latin typeface="Arial"/>
                <a:ea typeface="Arial"/>
                <a:cs typeface="Arial"/>
                <a:sym typeface="Arial"/>
              </a:rPr>
              <a:t>&lt; 20%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18"/>
          <p:cNvGraphicFramePr/>
          <p:nvPr/>
        </p:nvGraphicFramePr>
        <p:xfrm>
          <a:off x="10058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1691650"/>
                <a:gridCol w="1691650"/>
                <a:gridCol w="1691650"/>
                <a:gridCol w="1691650"/>
                <a:gridCol w="1691650"/>
                <a:gridCol w="1691650"/>
              </a:tblGrid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 Jan–Mar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 Apr–Jun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 Jul–Sep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 Oct–Dec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FY Avg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Aeon Towers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5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E7D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Boutique Nest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CFC - 2E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Gouna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Karma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Mivida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4235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B642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9%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D8D5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72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Villette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72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18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28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ACTION PLAN — CAIRO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30352" y="76809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47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E6470"/>
                </a:solidFill>
                <a:latin typeface="Arial"/>
                <a:ea typeface="Arial"/>
                <a:cs typeface="Arial"/>
                <a:sym typeface="Arial"/>
              </a:rPr>
              <a:t>Mivida, Villette, CFC, Aeon Towers and Boutique Nest.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94360" y="1143000"/>
            <a:ext cx="2743200" cy="310896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Protect Engines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9436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Secure renewals and repeat demand in Mivida and Villette. Maintain rate discipline while prioritizing fastest-converting broker and referral opportunities.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4343400" y="1143000"/>
            <a:ext cx="2743200" cy="310896"/>
          </a:xfrm>
          <a:prstGeom prst="rect">
            <a:avLst/>
          </a:prstGeom>
          <a:solidFill>
            <a:srgbClr val="CFAD4D"/>
          </a:solidFill>
          <a:ln cap="flat" cmpd="sng" w="9525">
            <a:solidFill>
              <a:srgbClr val="CFAD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Recover Gaps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434340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Push CFC D/E, Aeon Towers and Boutique Nest through targeted corporate outreach, curated unit lists and weekly conversion follow-up.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8092440" y="1143000"/>
            <a:ext cx="2743200" cy="310896"/>
          </a:xfrm>
          <a:prstGeom prst="rect">
            <a:avLst/>
          </a:prstGeom>
          <a:solidFill>
            <a:srgbClr val="2E7D55"/>
          </a:solidFill>
          <a:ln cap="flat" cmpd="sng" w="9525">
            <a:solidFill>
              <a:srgbClr val="2E7D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Diversify Sources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809244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Balance broker demand with corporate, customer referral and internal leads. Assign each source to a named owner and review progress weekly.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94360" y="4892040"/>
            <a:ext cx="2194560" cy="310896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CONTROL KPIs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594360" y="5321808"/>
            <a:ext cx="10835640" cy="658368"/>
          </a:xfrm>
          <a:prstGeom prst="rect">
            <a:avLst/>
          </a:prstGeom>
          <a:solidFill>
            <a:srgbClr val="E2C87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Pipeline value by location • Conversion rate • Same-day quotation response • Deals closed per week • Source mix movement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28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ACTION PLAN — SAHEL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30352" y="76809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47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E6470"/>
                </a:solidFill>
                <a:latin typeface="Arial"/>
                <a:ea typeface="Arial"/>
                <a:cs typeface="Arial"/>
                <a:sym typeface="Arial"/>
              </a:rPr>
              <a:t>Seasonal demand recovery and Q3 activation focus.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94360" y="1143000"/>
            <a:ext cx="2743200" cy="310896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Seasonal Push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9436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Build a peak-season booking push using early offers, weekly availability updates and clear short-stay packages for high-demand periods.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343400" y="1143000"/>
            <a:ext cx="2743200" cy="310896"/>
          </a:xfrm>
          <a:prstGeom prst="rect">
            <a:avLst/>
          </a:prstGeom>
          <a:solidFill>
            <a:srgbClr val="CFAD4D"/>
          </a:solidFill>
          <a:ln cap="flat" cmpd="sng" w="9525">
            <a:solidFill>
              <a:srgbClr val="CFAD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Expansion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34340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Expand beyond limited broker exposure by activating referral campaigns, internal leads, corporate summer stays and selected TMC opportunities.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8092440" y="1143000"/>
            <a:ext cx="2743200" cy="310896"/>
          </a:xfrm>
          <a:prstGeom prst="rect">
            <a:avLst/>
          </a:prstGeom>
          <a:solidFill>
            <a:srgbClr val="2E7D55"/>
          </a:solidFill>
          <a:ln cap="flat" cmpd="sng" w="9525">
            <a:solidFill>
              <a:srgbClr val="2E7D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 Control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09244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Track inbound leads daily, prioritize fastest follow-up, and escalate pricing/inventory decisions quickly during high-demand windows.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94360" y="4892040"/>
            <a:ext cx="2194560" cy="310896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CONTROL KPIs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94360" y="5321808"/>
            <a:ext cx="10835640" cy="658368"/>
          </a:xfrm>
          <a:prstGeom prst="rect">
            <a:avLst/>
          </a:prstGeom>
          <a:solidFill>
            <a:srgbClr val="E2C87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Daily leads • Response time • Forward bookings • Booking value by source • Weekly Sahel gap recovery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0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28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ACTION PLAN — OCTOBER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30352" y="76809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47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E6470"/>
                </a:solidFill>
                <a:latin typeface="Arial"/>
                <a:ea typeface="Arial"/>
                <a:cs typeface="Arial"/>
                <a:sym typeface="Arial"/>
              </a:rPr>
              <a:t>ORA ZED-PARK / West Cairo activation focus.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94360" y="1143000"/>
            <a:ext cx="2743200" cy="310896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Visibility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9436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Refresh listings, unit presentation and broker material for ORA ZED-PARK. Position the asset around West Cairo accessibility and quality of stay.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343400" y="1143000"/>
            <a:ext cx="2743200" cy="310896"/>
          </a:xfrm>
          <a:prstGeom prst="rect">
            <a:avLst/>
          </a:prstGeom>
          <a:solidFill>
            <a:srgbClr val="CFAD4D"/>
          </a:solidFill>
          <a:ln cap="flat" cmpd="sng" w="9525">
            <a:solidFill>
              <a:srgbClr val="CFAD4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Corporate Reach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34340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Target nearby business districts, universities, hospitals and relocation needs with direct corporate outreach and tailored monthly-stay offers.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8092440" y="1143000"/>
            <a:ext cx="2743200" cy="310896"/>
          </a:xfrm>
          <a:prstGeom prst="rect">
            <a:avLst/>
          </a:prstGeom>
          <a:solidFill>
            <a:srgbClr val="2E7D55"/>
          </a:solidFill>
          <a:ln cap="flat" cmpd="sng" w="9525">
            <a:solidFill>
              <a:srgbClr val="2E7D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Broker Activation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8092440" y="1627632"/>
            <a:ext cx="3337560" cy="2880360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Build a focused West Cairo broker list, run weekly availability broadcasts and follow up on every interested lead within the same day.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94360" y="4892040"/>
            <a:ext cx="2194560" cy="310896"/>
          </a:xfrm>
          <a:prstGeom prst="rect">
            <a:avLst/>
          </a:prstGeom>
          <a:solidFill>
            <a:srgbClr val="203348"/>
          </a:solidFill>
          <a:ln cap="flat" cmpd="sng" w="9525">
            <a:solidFill>
              <a:srgbClr val="20334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CONTROL KPIs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94360" y="5321808"/>
            <a:ext cx="10835640" cy="658368"/>
          </a:xfrm>
          <a:prstGeom prst="rect">
            <a:avLst/>
          </a:prstGeom>
          <a:solidFill>
            <a:srgbClr val="E2C87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Active listings • Broker meetings • Corporate outreach • Viewings created • Weekly closed value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1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28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CHALLENGES &amp; OBSTACLES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530352" y="76809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47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E6470"/>
                </a:solidFill>
                <a:latin typeface="Arial"/>
                <a:ea typeface="Arial"/>
                <a:cs typeface="Arial"/>
                <a:sym typeface="Arial"/>
              </a:rPr>
              <a:t>Execution constraints that could slow target recovery.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40080" y="1069848"/>
            <a:ext cx="5166360" cy="987552"/>
          </a:xfrm>
          <a:prstGeom prst="rect">
            <a:avLst/>
          </a:prstGeom>
          <a:solidFill>
            <a:srgbClr val="F7E8C7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01  Broker Dependence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High contribution from Broker creates volume risk if broker communication, pricing clarity or listing exposure weakens.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6263640" y="1069848"/>
            <a:ext cx="5166360" cy="987552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02  Corporate Conversion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Corporate accounts need faster response, clearer offers and attractive value propositions to convert consistently.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40080" y="2487168"/>
            <a:ext cx="5166360" cy="987552"/>
          </a:xfrm>
          <a:prstGeom prst="rect">
            <a:avLst/>
          </a:prstGeom>
          <a:solidFill>
            <a:srgbClr val="F7E8C7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03  TMC Activation Gap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TMC contribution is still limited in the source tables, increasing pressure on offline execution.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6263640" y="2487168"/>
            <a:ext cx="5166360" cy="987552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04  Location Recovery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Sahel, October, Boutique Nest and Gouna show low achievement and require location-specific demand plans.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640080" y="3904488"/>
            <a:ext cx="5166360" cy="987552"/>
          </a:xfrm>
          <a:prstGeom prst="rect">
            <a:avLst/>
          </a:prstGeom>
          <a:solidFill>
            <a:srgbClr val="F7E8C7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05  Sales Coverage Concentration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Agent contribution is concentrated, so ownership and coverage must be redistributed carefully.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6263640" y="3904488"/>
            <a:ext cx="5166360" cy="987552"/>
          </a:xfrm>
          <a:prstGeom prst="rect">
            <a:avLst/>
          </a:prstGeom>
          <a:solidFill>
            <a:srgbClr val="F8ECD6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06  Lead Generation Dependency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Listings, marketing campaigns and referral activity are needed to keep the pipeline full across locations.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IMPACT ON TARGETS — RISK MATRIX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30352" y="768096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470"/>
              </a:buClr>
              <a:buSzPts val="850"/>
              <a:buFont typeface="Arial"/>
              <a:buNone/>
            </a:pPr>
            <a:r>
              <a:rPr b="0" i="0" lang="en-US" u="none" cap="none" strike="noStrike">
                <a:solidFill>
                  <a:srgbClr val="5E6470"/>
                </a:solidFill>
                <a:latin typeface="Arial"/>
                <a:ea typeface="Arial"/>
                <a:cs typeface="Arial"/>
                <a:sym typeface="Arial"/>
              </a:rPr>
              <a:t>How obstacles affect delivery and where management intervention is needed.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1" name="Google Shape;291;p23"/>
          <p:cNvGraphicFramePr/>
          <p:nvPr/>
        </p:nvGraphicFramePr>
        <p:xfrm>
          <a:off x="50292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{99C73243-694F-4AAE-811F-BE58519D9E65}</a:tableStyleId>
              </a:tblPr>
              <a:tblGrid>
                <a:gridCol w="2240275"/>
                <a:gridCol w="2240275"/>
                <a:gridCol w="2240275"/>
                <a:gridCol w="2240275"/>
                <a:gridCol w="2240275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Challenge Area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 Impact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Likelihood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Severity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Response Priority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334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 dependence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volatility if broker flow slows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Clarify rates, commission and weekly broker coverage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Corporate conversion gap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Slower Cairo recovery and weaker source mix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account list, same-day quotes and decision-maker follow-up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TMC activation gap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non-broker demand in seasonal periods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Package inventory and assign TMC owner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Sahel seasonal gap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 Q3 target exposure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Daily pipeline control and peak-season offer calendar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October low activation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Continued low contribution from ORA ZED-PARK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West Cairo broker/corporate activation sprint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8C7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3348"/>
                        </a:buClr>
                        <a:buSzPts val="660"/>
                        <a:buFont typeface="Arial"/>
                        <a:buNone/>
                      </a:pPr>
                      <a:r>
                        <a:rPr b="1" lang="en-US" u="none" cap="none" strike="noStrike">
                          <a:solidFill>
                            <a:srgbClr val="20334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concentration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C8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Execution risk if coverage is not balanced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3A"/>
                        </a:buClr>
                        <a:buSzPts val="66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D2B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 ownership and weekly performance cadence</a:t>
                      </a:r>
                      <a:endParaRPr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93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ECD6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3"/>
          <p:cNvSpPr/>
          <p:nvPr/>
        </p:nvSpPr>
        <p:spPr>
          <a:xfrm>
            <a:off x="502913" y="5980300"/>
            <a:ext cx="11201400" cy="502800"/>
          </a:xfrm>
          <a:prstGeom prst="rect">
            <a:avLst/>
          </a:prstGeom>
          <a:solidFill>
            <a:srgbClr val="203348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insight: the biggest risk is not only the size of the target gap — it is the concentration of performance by location, source and agent.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3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6C8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502920" y="29260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2800"/>
              <a:buFont typeface="Play"/>
              <a:buNone/>
            </a:pPr>
            <a:r>
              <a:rPr b="0" i="0" lang="en-US" sz="4000" u="none" cap="none" strike="noStrike">
                <a:solidFill>
                  <a:srgbClr val="203348"/>
                </a:solidFill>
                <a:latin typeface="Play"/>
                <a:ea typeface="Play"/>
                <a:cs typeface="Play"/>
                <a:sym typeface="Play"/>
              </a:rPr>
              <a:t>KEY TAKEAWAYS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1005840" y="1280160"/>
            <a:ext cx="101498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Overall achievement is 22.3%, so the plan must focus on recovery actions rather than general activity.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Mivida and Villette are the current revenue engines and should be protected with clear account and source ownership.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Broker is the top source across all quarters; source diversification is required to reduce concentration risk.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Sahel and October need dedicated action plans because their target gaps are too large for a generic sales approach.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D2B3A"/>
                </a:solidFill>
                <a:latin typeface="Arial"/>
                <a:ea typeface="Arial"/>
                <a:cs typeface="Arial"/>
                <a:sym typeface="Arial"/>
              </a:rPr>
              <a:t>• Sales contribution is concentrated; weekly location ownership and pipeline review should become the main execution rhythm.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1005840" y="5577840"/>
            <a:ext cx="10149840" cy="502920"/>
          </a:xfrm>
          <a:prstGeom prst="rect">
            <a:avLst/>
          </a:prstGeom>
          <a:solidFill>
            <a:srgbClr val="E2C875"/>
          </a:solidFill>
          <a:ln cap="flat" cmpd="sng" w="10150">
            <a:solidFill>
              <a:srgbClr val="A9936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334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3348"/>
                </a:solidFill>
                <a:latin typeface="Arial"/>
                <a:ea typeface="Arial"/>
                <a:cs typeface="Arial"/>
                <a:sym typeface="Arial"/>
              </a:rPr>
              <a:t>Required next step: approve location-level ownership, source priorities and weekly reporting cadence.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4"/>
          <p:cNvSpPr txBox="1"/>
          <p:nvPr>
            <p:ph idx="4294967295" type="sldNum"/>
          </p:nvPr>
        </p:nvSpPr>
        <p:spPr>
          <a:xfrm>
            <a:off x="11585448" y="648309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4A4A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